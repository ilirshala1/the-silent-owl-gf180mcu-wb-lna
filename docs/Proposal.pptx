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38c1fb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e38c1fb3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38c1fb3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e38c1fb3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olegite.com/EE_library/books_and_lectures/EMI_and_ESD/Tazi_Oleg%20Semenov%2C%20Hossein%20Sarbishaei%2C%20Manoj%20Sachdev%20-%20ESD%20Protection%20Device%20and%20Circuit%20Design%20for%20Advanced%20CMOS%20Technologies-Springer%20%282008%29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www.semanticscholar.org/paper/ESD-protection-circuits-for-advanced-CMOS-Chun/2e7a681997eaf043993fcfa7f955e389878447a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68375"/>
            <a:ext cx="85206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de-AT" dirty="0"/>
              <a:t>A38 The Silent Owl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28F65-9D85-4776-992D-66FB9F55E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560CC2-1193-4CD8-BC77-509A7C2F8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083775"/>
              </p:ext>
            </p:extLst>
          </p:nvPr>
        </p:nvGraphicFramePr>
        <p:xfrm>
          <a:off x="255494" y="1945666"/>
          <a:ext cx="8633010" cy="2575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77670">
                  <a:extLst>
                    <a:ext uri="{9D8B030D-6E8A-4147-A177-3AD203B41FA5}">
                      <a16:colId xmlns:a16="http://schemas.microsoft.com/office/drawing/2014/main" val="2559954828"/>
                    </a:ext>
                  </a:extLst>
                </a:gridCol>
                <a:gridCol w="2877670">
                  <a:extLst>
                    <a:ext uri="{9D8B030D-6E8A-4147-A177-3AD203B41FA5}">
                      <a16:colId xmlns:a16="http://schemas.microsoft.com/office/drawing/2014/main" val="3815424960"/>
                    </a:ext>
                  </a:extLst>
                </a:gridCol>
                <a:gridCol w="2877670">
                  <a:extLst>
                    <a:ext uri="{9D8B030D-6E8A-4147-A177-3AD203B41FA5}">
                      <a16:colId xmlns:a16="http://schemas.microsoft.com/office/drawing/2014/main" val="1520139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9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Ghaith AL SABAGH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RFICs: 2x tapeouts in open-source SG13G2 for a D-Band Radar and a D-Band Antenna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36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Ahmed Moustafa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48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Arjun Ananth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58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Ilir Shala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Mixed-Signal ICs: Design of an open-source Current Steering DAC in SG13G2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119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information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6377" y="165674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Goal: </a:t>
            </a: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</a:rPr>
              <a:t>The RF-limitation in the PDK is the ESD-Cells. Goal is to design an RF-LNA by compensating the reactance of the ESD-Cells.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Design - High Level Proposal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</a:rPr>
              <a:t>Input/output cells: I/O-Cell, ESD, adjustable bond-wire compensation+matching.</a:t>
            </a: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</a:rPr>
              <a:t>Core cell: LNA core of 1-2 Stages + adjustable bias.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Application: 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Initial goal is Bluetooth operation (2.4 GHz), could be settled down to sub-GHz applications (e.g. </a:t>
            </a:r>
            <a:r>
              <a:rPr lang="en-US" dirty="0" err="1">
                <a:solidFill>
                  <a:schemeClr val="dk1"/>
                </a:solidFill>
                <a:highlight>
                  <a:srgbClr val="FFFFFF"/>
                </a:highlight>
              </a:rPr>
              <a:t>LoRa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 EU868 or EU433).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lvl="0"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</a:rPr>
              <a:t>References</a:t>
            </a: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dk1"/>
                </a:solidFill>
                <a:highlight>
                  <a:srgbClr val="FFFFFF"/>
                </a:highlight>
                <a:hlinkClick r:id="rId3"/>
              </a:rPr>
              <a:t>Oleg Semenov, Hossein Sarbishaei, Manoj Sachdev - ESD Protection Device and Circuit Design for Advanced CMOS Technologies</a:t>
            </a:r>
            <a:endParaRPr lang="de-AT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29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  <a:hlinkClick r:id="rId4"/>
              </a:rPr>
              <a:t>Jung-</a:t>
            </a:r>
            <a:r>
              <a:rPr lang="en-US" dirty="0" err="1">
                <a:solidFill>
                  <a:schemeClr val="dk1"/>
                </a:solidFill>
                <a:highlight>
                  <a:srgbClr val="FFFFFF"/>
                </a:highlight>
                <a:hlinkClick r:id="rId4"/>
              </a:rPr>
              <a:t>Hoon</a:t>
            </a:r>
            <a:r>
              <a:rPr lang="en-US" dirty="0">
                <a:solidFill>
                  <a:schemeClr val="dk1"/>
                </a:solidFill>
                <a:highlight>
                  <a:srgbClr val="FFFFFF"/>
                </a:highlight>
                <a:hlinkClick r:id="rId4"/>
              </a:rPr>
              <a:t> Chun - ESD Protection Circuits For Advanced CMOS Technologies</a:t>
            </a:r>
            <a:endParaRPr lang="en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B83F28-6B4D-4CD3-817F-C6B012165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0428" y="0"/>
            <a:ext cx="4233572" cy="1418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Questions, Suggestions, Doubts?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AT" dirty="0"/>
              <a:t>How much area is available for designs?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AT" dirty="0"/>
              <a:t>How much pins are dedicated for each design?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AT" dirty="0"/>
              <a:t>Is it possible to place circuits under the broken shield of an inductor?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On-screen Show (16:9)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Wingdings</vt:lpstr>
      <vt:lpstr>Simple Light</vt:lpstr>
      <vt:lpstr>&lt;A38 The Silent Owl&gt;</vt:lpstr>
      <vt:lpstr>Project information</vt:lpstr>
      <vt:lpstr>Questions, Suggestions, Doubts?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&lt;Team Name&gt;</dc:title>
  <dc:creator>Ghaith Al Sabagh (PSS RF D RFP CD / External)</dc:creator>
  <cp:lastModifiedBy>Ghaith Al Sabagh (PSS RF D AMS / External)</cp:lastModifiedBy>
  <cp:revision>11</cp:revision>
  <dcterms:modified xsi:type="dcterms:W3CDTF">2026-06-09T12:51:09Z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-1</vt:lpwstr>
  </property>
  <property fmtid="{D5CDD505-2E9C-101B-9397-08002B2CF9AE}" pid="3" name="MSIP_Label_a15a25aa-e944-415d-b7a7-40f6b9180b6b_SetDate">
    <vt:lpwstr>2026-06-09 10:35:33Z</vt:lpwstr>
  </property>
  <property fmtid="{D5CDD505-2E9C-101B-9397-08002B2CF9AE}" pid="4" name="MSIP_Label_a15a25aa-e944-415d-b7a7-40f6b9180b6b_Method">
    <vt:lpwstr>Privileged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7e033c7a-4343-4175-970d-85ca0d2ae0a0</vt:lpwstr>
  </property>
  <property fmtid="{D5CDD505-2E9C-101B-9397-08002B2CF9AE}" pid="8" name="MSIP_Label_a15a25aa-e944-415d-b7a7-40f6b9180b6b_ContentBits">
    <vt:lpwstr>0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2026-06-09T10:35:33Z</vt:filetime>
  </property>
  <property fmtid="{D5CDD505-2E9C-101B-9397-08002B2CF9AE}" pid="15" name="empower.integration.Classification.DateFormat">
    <vt:lpwstr/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false</vt:bool>
  </property>
</Properties>
</file>